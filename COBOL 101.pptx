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78" r:id="rId7"/>
    <p:sldId id="258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4856-5B22-E4D9-D19A-ECFADF2E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16BD3-CD5A-830C-4BE7-536C61636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B7082-C21F-C2E6-6F00-3AE31BAE2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52533-A734-33B2-7BEA-2644D0E11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645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9EA2-47DC-259F-6E4A-EB710949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D2686-D300-49B0-02B6-FB185E737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CE7A3-6E36-F9DB-D042-3DD56CE2A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BACE8-E3D1-A977-53A9-C5834EEBC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73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039E-CF1F-68AF-E2EC-93CA4AFB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A4EA8-CD09-F76C-6A23-F682B5721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CD51C-FBF0-A138-C7B7-7ABEDEEF4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32749-9F09-4A53-6EAC-B225C4F2B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3AB5-0E69-B3E1-5115-40C01DC1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1F8E0-11F3-A2C7-61CF-B1BB9AC8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85FD7-7B86-436A-6F2A-1BDD18997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3DB09-2AC8-998A-AF2C-9E27BCE8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898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0B7D-905C-C058-161F-3FDFBEEC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FD219-1D1F-0CED-BAF7-6DD1F62D0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C2119-6F5C-0F95-C109-A10983BE6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2709E-AC40-6B73-CF09-245E70A14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64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15E4-7530-3364-9651-1FC11DC9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C7C78-3274-E7F0-E9AF-B9E726191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9F224-8A85-BEAA-8B4C-C24BB2F0D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F7AE-AAAF-BE8E-C00B-D2A7014FF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22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072C-2B6F-307E-6325-FC552C5E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5B4AA-7172-1795-DFB6-98D6E97E9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FF173-5327-DA0D-C393-F7EFE873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F4B68-16E0-CB2D-8DFB-7C5A0B15C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94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7775-6A12-FF8D-20FE-069A93BC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C017F-A817-BF68-6738-74C566463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5933F-2C83-0AA1-DCC2-1059DBFBA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B8D67-567C-B329-85FC-AF5E9D60B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99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8DD30-69FD-EAF5-87DC-0C362033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7CCCD-6035-C502-E98A-C17C3629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FFED2-8131-841B-BB03-22FF4E50B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F734-0BF6-A826-7C8F-141C41585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68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AF0C-7DB5-3298-9257-239A1549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E00BE-D6C3-B9C6-61C4-3754AC24C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71AEA-FDEE-2ABA-DC22-C48F395D6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30A94-6E1B-A251-BF79-4E62A2EF9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970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77F8-3E53-F87D-E687-7249FA2C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B0568-4104-3B43-2495-C38788AE0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4DB25-0DC5-AD3C-903E-CB20F4839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58DA5-462D-F92A-76BF-76F7BC780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52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D590-41D4-61F4-9B16-6F83C2F2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F3507-F575-6F5A-4901-C1886CB6D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694BE-2AF8-9488-CE9C-4BC14668C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0E731-1B7B-056B-5E23-017AAB483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21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5B59-630E-2008-87C6-9BCAF55E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73A34-03B1-8E07-649B-7C5E67E88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5D67B-12B0-B1BC-3C8B-E90246EF7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642F-6178-7CF8-0A70-25C3EED73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84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580C-C9B7-9927-50EE-0D6D32BA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F663A-BDC4-8F0B-F1BA-B11C8D68D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7FFC4-2502-F7E9-7BD6-6C8091E70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2BF73-5FA2-AB49-304E-002F65A74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27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E475F-F501-55AD-0973-71B52902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092A1-E5DE-B04A-6E4B-EA9099B72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B013A-CFF4-73FD-2869-1B9F0A134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4A76-9348-6CC7-F77A-22B7F1146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945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125B-C16B-621F-D7AF-AD974BF8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0281F-1A4C-058A-D13D-B3BFE2291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B73BE-1012-782B-D253-8673F4D36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01119-8630-873F-7B7C-D32A1421F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528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2FAE-17AA-F6BA-5ACC-4E319821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628F6-E2D8-6739-619C-C5CE01EBC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BC513-2F12-3A86-EA29-57252191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8C5DC-64E2-5E90-7FDD-327821121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725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061B-FF52-DEAD-90CE-6C6DE6EB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76AD6-062A-2EA0-699D-C3326EF8D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FB9FA-0470-0201-F090-954C1EDCC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4EDDD-D15C-075A-4F95-8694DB0AB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7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F368-4452-8766-82FA-9292D1B1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7921D-D7B5-372F-6373-D419B850F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00F25-A6ED-48B8-F945-7A8CAB933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4B617-E796-3802-070E-463D75665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304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C307-02DB-C78A-CACF-1CCC3F0C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60ED0-0E71-2588-1129-2223B1CFE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90DA2-EA62-97A4-894D-85C59EF4B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6DD42-DD2D-C1BC-699A-3C397241C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581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4F8C-A350-EA68-333B-20D06996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AC8A0-46CC-F421-324C-4B4A6618B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A2176-39A1-6DBB-4C0E-F71C4E831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4A678-F5B8-3B83-FEAA-FB7CDBF8F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2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145E-DE82-04FE-B3A0-7AE9975A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ADAA4-D71B-4D50-35D0-745A69BA7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8B80B-536E-DB4E-5C75-D44F5CF77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94361-F850-C515-4F42-D7CC0DB36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2473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86C6-DFAB-78B1-58B6-236BE549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0E840-48FC-EF85-B088-565B078A5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FC0C9-15A7-04A6-1DD7-E5CEAFA31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F385E-1EBE-9296-7A53-38390903B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193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COBOL 101 – Writing your first Cobol program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898900" cy="1325563"/>
          </a:xfrm>
        </p:spPr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What is COBOL?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Structure of COBOL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COBOL division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COBOL sections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Example Program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What is COBOL?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What is COBOL?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28821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COBOL – Common Business Oriented Language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Often associated with mainframes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Created in the 1950’s to serve many institutions</a:t>
            </a:r>
          </a:p>
          <a:p>
            <a:pPr marL="569214" lvl="1">
              <a:buFontTx/>
              <a:buChar char="-"/>
            </a:pPr>
            <a:r>
              <a:rPr lang="en-US" dirty="0"/>
              <a:t>Business, Financial, Governmental, and more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Designed to be easily readable by humans</a:t>
            </a:r>
          </a:p>
          <a:p>
            <a:pPr marL="569214" lvl="1">
              <a:buFontTx/>
              <a:buChar char="-"/>
            </a:pPr>
            <a:r>
              <a:rPr lang="en-US" dirty="0"/>
              <a:t>Even with no prior coding knowledge</a:t>
            </a:r>
          </a:p>
          <a:p>
            <a:pPr marL="569214" lvl="1">
              <a:buFontTx/>
              <a:buChar char="-"/>
            </a:pPr>
            <a:r>
              <a:rPr lang="en-US" dirty="0"/>
              <a:t>Not a difficult language to pick up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Many important sectors of modern world that rely on COBOL</a:t>
            </a:r>
          </a:p>
          <a:p>
            <a:pPr marL="569214" lvl="1">
              <a:buFontTx/>
              <a:buChar char="-"/>
            </a:pPr>
            <a:r>
              <a:rPr lang="en-US" dirty="0"/>
              <a:t>Banking systems, governmental agencies (social security), insurance systems, healthcare systems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EA5DE-A89F-A140-28A3-54F244B6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0D06-68B4-C9F7-7C0F-3CA6C12B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What is COBOL?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16AF2-5868-A478-F4E7-5B67A6817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28821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Many consider COBOL to be a dying language, and will be replaced</a:t>
            </a:r>
          </a:p>
          <a:p>
            <a:pPr marL="569214" lvl="1">
              <a:buFontTx/>
              <a:buChar char="-"/>
            </a:pPr>
            <a:r>
              <a:rPr lang="en-US" dirty="0"/>
              <a:t>True in some cases, but not all</a:t>
            </a:r>
          </a:p>
          <a:p>
            <a:pPr marL="569214" lvl="1">
              <a:buFontTx/>
              <a:buChar char="-"/>
            </a:pPr>
            <a:r>
              <a:rPr lang="en-US" dirty="0"/>
              <a:t>Fact: There are over 800 billion lines of COBOL code that run daily, and have been working for over 60 years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With that much code running, it would be impossible to replace it all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There is a decreasing amount of COBOL developers, as most new developers do not consider COBOL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This is going to be a brief crash course on COBOL, if interested in learning more, check document on our GitHub for this crash course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D41DF55-898A-9086-86D7-2589CF48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73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6619-8B09-2A35-6F27-055BA46E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E74B-ECB3-7257-47F8-366F8A173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Structure of COBOL Program</a:t>
            </a:r>
          </a:p>
        </p:txBody>
      </p:sp>
    </p:spTree>
    <p:extLst>
      <p:ext uri="{BB962C8B-B14F-4D97-AF65-F5344CB8AC3E}">
        <p14:creationId xmlns:p14="http://schemas.microsoft.com/office/powerpoint/2010/main" val="281788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0DD2-84E5-5F8F-21DB-532A2B23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9B0-2D1F-BFD1-A30B-2296A7A3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Structure of COBOL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41F84-EBBB-CD7E-0382-905B96DFD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COBOL code needs to be organized in specific columns, depending on information on a line</a:t>
            </a:r>
          </a:p>
          <a:p>
            <a:pPr marL="569214" lvl="1">
              <a:buFontTx/>
              <a:buChar char="-"/>
            </a:pPr>
            <a:r>
              <a:rPr lang="en-US" dirty="0"/>
              <a:t>Lines 1-6 should always be empty</a:t>
            </a:r>
          </a:p>
          <a:p>
            <a:pPr marL="569214" lvl="1">
              <a:buFontTx/>
              <a:buChar char="-"/>
            </a:pPr>
            <a:r>
              <a:rPr lang="en-US" b="0" dirty="0"/>
              <a:t>Line 7 should be used for indicators</a:t>
            </a:r>
          </a:p>
          <a:p>
            <a:pPr marL="852678" lvl="2">
              <a:buFontTx/>
              <a:buChar char="-"/>
            </a:pPr>
            <a:r>
              <a:rPr lang="en-US" dirty="0"/>
              <a:t>Such as comments or continuation lines</a:t>
            </a:r>
            <a:endParaRPr lang="en-US" b="0" dirty="0"/>
          </a:p>
          <a:p>
            <a:pPr marL="569214" lvl="1">
              <a:buFontTx/>
              <a:buChar char="-"/>
            </a:pPr>
            <a:r>
              <a:rPr lang="en-US" b="0" dirty="0"/>
              <a:t>Lines 8-11 </a:t>
            </a:r>
            <a:r>
              <a:rPr lang="en-US" dirty="0"/>
              <a:t>is “Section A” of a COBOL program</a:t>
            </a:r>
          </a:p>
          <a:p>
            <a:pPr marL="852678" lvl="2">
              <a:buFontTx/>
              <a:buChar char="-"/>
            </a:pPr>
            <a:r>
              <a:rPr lang="en-US" dirty="0"/>
              <a:t>Belongs to names such as division names, and 01 level items</a:t>
            </a:r>
          </a:p>
          <a:p>
            <a:pPr marL="569214" lvl="1">
              <a:buFontTx/>
              <a:buChar char="-"/>
            </a:pPr>
            <a:r>
              <a:rPr lang="en-US" dirty="0"/>
              <a:t>Lines 12-72 is “Section B” of a COBOL program</a:t>
            </a:r>
          </a:p>
          <a:p>
            <a:pPr marL="852678" lvl="2">
              <a:buFontTx/>
              <a:buChar char="-"/>
            </a:pPr>
            <a:r>
              <a:rPr lang="en-US" dirty="0"/>
              <a:t>Belongs to all other information in a program</a:t>
            </a:r>
          </a:p>
          <a:p>
            <a:pPr marL="852678" lvl="2">
              <a:buFontTx/>
              <a:buChar char="-"/>
            </a:pPr>
            <a:r>
              <a:rPr lang="en-US" dirty="0"/>
              <a:t>Such as program logic or value clauses</a:t>
            </a:r>
          </a:p>
          <a:p>
            <a:pPr marL="569214" lvl="1">
              <a:buFontTx/>
              <a:buChar char="-"/>
            </a:pPr>
            <a:r>
              <a:rPr lang="en-US" dirty="0"/>
              <a:t>Any lines past 72 should remain blank – compiler ignores them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8D7B7E-F6FB-F442-E257-CB4244D4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33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EC42-BDEE-9859-BD88-9ACC6784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E296-C949-B4A8-1B67-5AA0149A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Structure of COBOL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BA35F-836A-BFEC-9769-501F878B6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There are 4 divisions that exist within a COBOL program</a:t>
            </a:r>
          </a:p>
          <a:p>
            <a:pPr marL="569214" lvl="1">
              <a:buFontTx/>
              <a:buChar char="-"/>
            </a:pPr>
            <a:r>
              <a:rPr lang="en-US" dirty="0"/>
              <a:t>Identification division, environment division, data division, and procedure division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Within these divisions, there are also subdivisions – which are called sections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These 4 divisions should be defined in the order listed here</a:t>
            </a:r>
          </a:p>
          <a:p>
            <a:pPr marL="569214" lvl="1">
              <a:buFontTx/>
              <a:buChar char="-"/>
            </a:pPr>
            <a:r>
              <a:rPr lang="en-US" dirty="0"/>
              <a:t>Every COBOL program should start with an identification division</a:t>
            </a:r>
          </a:p>
          <a:p>
            <a:pPr marL="569214" lvl="1">
              <a:buFontTx/>
              <a:buChar char="-"/>
            </a:pPr>
            <a:r>
              <a:rPr lang="en-US" dirty="0"/>
              <a:t>Every COBOL program should end with a procedure division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Each division/section provides a valuable role to a COBOL program</a:t>
            </a:r>
          </a:p>
          <a:p>
            <a:pPr marL="285750" indent="-285750">
              <a:buFontTx/>
              <a:buChar char="-"/>
            </a:pPr>
            <a:r>
              <a:rPr lang="en-US" dirty="0"/>
              <a:t>Note</a:t>
            </a:r>
            <a:r>
              <a:rPr lang="en-US" b="0" dirty="0"/>
              <a:t>: while not strictly required with newer versions of COBOL, it is very common to type COBOL in all caps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AFF72CE-D7FC-38E6-3C6E-754AC3B1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34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AF81-64E9-07C7-D6D9-F5034A16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0F39-BCDC-0CBA-978B-22E23DAD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Quick Note on 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13390-D94F-2910-160D-80FCA20DE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Quick note on some common COBOL terminology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The term – </a:t>
            </a:r>
            <a:r>
              <a:rPr lang="en-US" dirty="0"/>
              <a:t>Paragraph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The term paragraph is commonly used when referring to blocks of COBOL code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In other languages such as C++, you may think of the term function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While not the exact same, for introductory purposes, you could think:</a:t>
            </a:r>
          </a:p>
          <a:p>
            <a:pPr marL="569214" lvl="1">
              <a:buFontTx/>
              <a:buChar char="-"/>
            </a:pPr>
            <a:r>
              <a:rPr lang="en-US" dirty="0"/>
              <a:t>Paragraphs = functions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Will refer to this term during the crash course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2FEDEDE-A0A8-0F7A-7A8D-7C0923F3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2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DCE68-A190-9407-C6A7-A0E7F44D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704-DABE-C3AA-61F9-527734048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Identification </a:t>
            </a:r>
            <a:r>
              <a:rPr lang="en-US" dirty="0" err="1"/>
              <a:t>divison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5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CE8EA-CCBF-23D4-DC10-D1FA7EF9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4EA4-A4BE-FFB0-978B-4612CD2D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Identification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1920-CDA8-8C76-52CC-4793EA0B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starting point for a COBOL program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Purpose: provide compiler with basic information about program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1 required field: Program-id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Many other fields may also be included, determined by programmer or company they are programming for</a:t>
            </a:r>
          </a:p>
          <a:p>
            <a:pPr marL="569214" lvl="1">
              <a:buFontTx/>
              <a:buChar char="-"/>
            </a:pPr>
            <a:r>
              <a:rPr lang="en-US" dirty="0"/>
              <a:t>Usually serve as documentation purposes, such as:</a:t>
            </a:r>
          </a:p>
          <a:p>
            <a:pPr marL="852678" lvl="2">
              <a:buFontTx/>
              <a:buChar char="-"/>
            </a:pPr>
            <a:r>
              <a:rPr lang="en-US" dirty="0"/>
              <a:t>Name of programmer, date written, date compiled</a:t>
            </a:r>
          </a:p>
          <a:p>
            <a:pPr marL="569214" lvl="1">
              <a:buFontTx/>
              <a:buChar char="-"/>
            </a:pPr>
            <a:r>
              <a:rPr lang="en-US" dirty="0"/>
              <a:t>These are not required by compiler in any way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63A2D04-A7D2-4AAF-501C-3FEE78F9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9741-BF26-544D-6CEE-E2A3040C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19FC-F7CE-0DE4-186C-F54C3CB7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Identification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45BC2-0011-EF97-8334-9B6FD96E4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609663-789B-8C56-8720-E7414865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10DAD4F-A051-B44D-DE2D-415F1E7D3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458720"/>
            <a:ext cx="7204783" cy="361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97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CF9F-20B4-E493-3B67-DE32D677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31DF-0C77-C9CA-5C2A-0FFF15040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Environment division</a:t>
            </a:r>
          </a:p>
        </p:txBody>
      </p:sp>
    </p:spTree>
    <p:extLst>
      <p:ext uri="{BB962C8B-B14F-4D97-AF65-F5344CB8AC3E}">
        <p14:creationId xmlns:p14="http://schemas.microsoft.com/office/powerpoint/2010/main" val="24983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A792-BD43-692A-37F0-96332EDF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7C06-87EB-B33D-FF89-A1D3C2D22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Environment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FD788-24D7-01B9-6F29-E5763595C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There are 2 sections that exist here</a:t>
            </a:r>
          </a:p>
          <a:p>
            <a:pPr marL="569214" lvl="1">
              <a:buFontTx/>
              <a:buChar char="-"/>
            </a:pPr>
            <a:r>
              <a:rPr lang="en-US" dirty="0"/>
              <a:t>Configuration Section &amp; Input-Output Section</a:t>
            </a:r>
          </a:p>
          <a:p>
            <a:pPr marL="569214" lvl="1">
              <a:buFontTx/>
              <a:buChar char="-"/>
            </a:pPr>
            <a:r>
              <a:rPr lang="en-US" dirty="0"/>
              <a:t>Configuration Section is optional in modern times</a:t>
            </a:r>
          </a:p>
          <a:p>
            <a:pPr marL="569214" lvl="1">
              <a:buFontTx/>
              <a:buChar char="-"/>
            </a:pPr>
            <a:r>
              <a:rPr lang="en-US" dirty="0"/>
              <a:t>Input-Output Section is still very relevant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In the Input-Output Section, there are 2 paragraphs that can be included</a:t>
            </a:r>
          </a:p>
          <a:p>
            <a:pPr marL="569214" lvl="1">
              <a:buFontTx/>
              <a:buChar char="-"/>
            </a:pPr>
            <a:r>
              <a:rPr lang="en-US" dirty="0"/>
              <a:t>I will only touch on the mandatory one – File Control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File Control Paragraph</a:t>
            </a:r>
          </a:p>
          <a:p>
            <a:pPr marL="569214" lvl="1">
              <a:buFontTx/>
              <a:buChar char="-"/>
            </a:pPr>
            <a:r>
              <a:rPr lang="en-US" dirty="0"/>
              <a:t>Used to define the relationship between file names in program logic to </a:t>
            </a:r>
            <a:r>
              <a:rPr lang="en-US" dirty="0" err="1"/>
              <a:t>to</a:t>
            </a:r>
            <a:r>
              <a:rPr lang="en-US" dirty="0"/>
              <a:t> external files</a:t>
            </a:r>
          </a:p>
          <a:p>
            <a:pPr marL="569214" lvl="1">
              <a:buFontTx/>
              <a:buChar char="-"/>
            </a:pPr>
            <a:r>
              <a:rPr lang="en-US" b="0" dirty="0"/>
              <a:t>These files can be both in</a:t>
            </a:r>
            <a:r>
              <a:rPr lang="en-US" dirty="0"/>
              <a:t>put and output</a:t>
            </a:r>
          </a:p>
          <a:p>
            <a:pPr marL="569214" lvl="1">
              <a:buFontTx/>
              <a:buChar char="-"/>
            </a:pPr>
            <a:r>
              <a:rPr lang="en-US" b="0" dirty="0"/>
              <a:t>This is done using what are known as SELECT … ASSIGN statements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580BDDA-C467-C25E-BC2F-6C1A6B62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240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8FCB-F0A7-4551-ADB6-5533D675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878C-5964-DB25-7431-CEF85406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Environment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8ABE9-B0B3-FF7E-C5EB-FA92BA7F8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r>
              <a:rPr lang="en-US" b="0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82B260D-49CE-6F1F-CE62-93AB16F9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639227-096C-D0E2-2322-8F44DDAF4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194559"/>
            <a:ext cx="8504150" cy="332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1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0D83-8B0F-E27A-7606-D9F0F780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9333-D6D1-DE6B-4EEC-8BEE3EC7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Environment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FB30A-AF54-9024-475F-2497F02B5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first file mentioned is the file name that will be used within the COBOL code that refer to that file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The second file mentioned is the file name that will refer to the DD statements in the JCL that use those names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33E9C7E-D95F-2004-524D-7FDE2D28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0A1C869-C791-B604-7305-7685A1031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34" y="3263361"/>
            <a:ext cx="7476171" cy="268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8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31C0-C5D6-2719-FFAA-898BF3D4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C164-E66E-A4A1-8426-F1648C528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30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2246-0D32-AB77-56F5-FFAF2155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BF5C-EEEF-4C12-A8D3-1036386A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First – Picture Clauses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B4625-B260-FF9F-89E1-7BEB110E1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Very important to understand when discussing data division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Picture clauses, or PIC clauses, are used to define the type, size, and format of a data item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Two types for beginners – PIC X and PIC 9</a:t>
            </a:r>
          </a:p>
          <a:p>
            <a:pPr marL="569214" lvl="1">
              <a:buFontTx/>
              <a:buChar char="-"/>
            </a:pPr>
            <a:r>
              <a:rPr lang="en-US" dirty="0"/>
              <a:t>PIC X refer to alphabetical data, PIC 9 refer to numerical data</a:t>
            </a:r>
          </a:p>
          <a:p>
            <a:pPr marL="569214" lvl="1">
              <a:buFontTx/>
              <a:buChar char="-"/>
            </a:pPr>
            <a:r>
              <a:rPr lang="en-US" dirty="0"/>
              <a:t>EX: PIC X(25) refers to alphabetical data with 25 characters</a:t>
            </a:r>
          </a:p>
          <a:p>
            <a:pPr marL="569214" lvl="1">
              <a:buFontTx/>
              <a:buChar char="-"/>
            </a:pPr>
            <a:r>
              <a:rPr lang="en-US" dirty="0"/>
              <a:t>EX: PIC 999 refers to numerical data with 3 characters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dirty="0"/>
              <a:t>Note</a:t>
            </a:r>
            <a:r>
              <a:rPr lang="en-US" b="0" dirty="0"/>
              <a:t>: With numerical data, you may notice a S between the PIC and the 9’s, this represents a signed number</a:t>
            </a:r>
          </a:p>
          <a:p>
            <a:pPr marL="285750" indent="-285750">
              <a:buFontTx/>
              <a:buChar char="-"/>
            </a:pPr>
            <a:r>
              <a:rPr lang="en-US" dirty="0"/>
              <a:t>Note</a:t>
            </a:r>
            <a:r>
              <a:rPr lang="en-US" b="0" dirty="0"/>
              <a:t>: You may also notice a V between 9’s, this represents an implied decimal place to the compiler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CE16856-5201-2285-D434-F80BB513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25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63B2-2D55-671B-383D-B8F9583A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63FD-562A-D7D7-E25E-52F4CA90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DATA division – file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F520A-E2B7-185C-1C51-2BD114E8E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first section to mention from the data division is the file section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Used to define input and output file structures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Each file that follows the SELECT clause should be defined here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Allows you to refer to specific parts of a input record using variable names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Knowing the data you are processing is one of the most significant parts of being a COBOL developer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92C683-8153-BB33-0222-648861AB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802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8636-5A53-9C9B-58A2-8198AB8D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686B-F5D1-5E42-A1E1-50C2E427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306440"/>
          </a:xfrm>
        </p:spPr>
        <p:txBody>
          <a:bodyPr/>
          <a:lstStyle/>
          <a:p>
            <a:r>
              <a:rPr lang="en-US" dirty="0"/>
              <a:t>DATA division – file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B03C4-2537-6770-ED8A-3682DD9B7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r>
              <a:rPr lang="en-US" b="0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98611EB-A293-E2CF-217B-7E6122AF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EB4ED5B-B788-A29D-DD3C-EEB00A901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18" y="2242127"/>
            <a:ext cx="4249102" cy="33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04E9C29-F591-EEE2-35C1-2CC67C176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080" y="2242127"/>
            <a:ext cx="5444488" cy="265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333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4802-987C-B7D1-2724-50685A44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49AE-267D-7391-8BC6-CE8382DC5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8410962" cy="1306440"/>
          </a:xfrm>
        </p:spPr>
        <p:txBody>
          <a:bodyPr/>
          <a:lstStyle/>
          <a:p>
            <a:r>
              <a:rPr lang="en-US" dirty="0"/>
              <a:t>DATA division – working-storage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DC32-7AE0-010D-5FD9-BB9A18E76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next section to mention is the working-storage section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Used to declare all program-level variables to be used in the procedure division. This includes:</a:t>
            </a:r>
          </a:p>
          <a:p>
            <a:pPr marL="569214" lvl="1">
              <a:buFontTx/>
              <a:buChar char="-"/>
            </a:pPr>
            <a:r>
              <a:rPr lang="en-US" dirty="0"/>
              <a:t>Variables for printing (detail lines, header lines)</a:t>
            </a:r>
          </a:p>
          <a:p>
            <a:pPr marL="569214" lvl="1">
              <a:buFontTx/>
              <a:buChar char="-"/>
            </a:pPr>
            <a:r>
              <a:rPr lang="en-US" dirty="0"/>
              <a:t>Variables used for computations</a:t>
            </a:r>
          </a:p>
          <a:p>
            <a:pPr marL="569214" lvl="1">
              <a:buFontTx/>
              <a:buChar char="-"/>
            </a:pPr>
            <a:r>
              <a:rPr lang="en-US" dirty="0"/>
              <a:t>Counters and flags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While there is no program logic itself here, most of the work of COBOL developer might spend on a program could be within this section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Note</a:t>
            </a:r>
            <a:r>
              <a:rPr lang="en-US" b="0" dirty="0"/>
              <a:t>: Each print line must be composed of 132 bytes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FF0885-AFB4-39D3-839B-BF2C76E8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39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F2BD-3658-372D-6B79-D47FCD9A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F077-A550-309C-ACA6-C6850EDC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8410962" cy="1306440"/>
          </a:xfrm>
        </p:spPr>
        <p:txBody>
          <a:bodyPr/>
          <a:lstStyle/>
          <a:p>
            <a:r>
              <a:rPr lang="en-US" dirty="0"/>
              <a:t>DATA division – working-storage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D311E-C1C8-8339-355F-B68A891AF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473409"/>
          </a:xfrm>
        </p:spPr>
        <p:txBody>
          <a:bodyPr>
            <a:normAutofit/>
          </a:bodyPr>
          <a:lstStyle/>
          <a:p>
            <a:r>
              <a:rPr lang="en-US" b="0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3EA9046-7D9F-9072-5694-3ECA6173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36CC3D9-8ECB-359B-9FE0-69203F9D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58" y="1696720"/>
            <a:ext cx="6785362" cy="471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634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3A92-4172-6A94-E158-F17BD832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01C4-ECCB-7347-7357-886C43DDA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Procedure Division</a:t>
            </a:r>
          </a:p>
        </p:txBody>
      </p:sp>
    </p:spTree>
    <p:extLst>
      <p:ext uri="{BB962C8B-B14F-4D97-AF65-F5344CB8AC3E}">
        <p14:creationId xmlns:p14="http://schemas.microsoft.com/office/powerpoint/2010/main" val="2476761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3ECD-1AFB-273F-AD75-188E0684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BCF9-1E19-67E6-F2CF-B415F571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8410962" cy="1306440"/>
          </a:xfrm>
        </p:spPr>
        <p:txBody>
          <a:bodyPr/>
          <a:lstStyle/>
          <a:p>
            <a:r>
              <a:rPr lang="en-US" dirty="0"/>
              <a:t>Procedure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7C339-2BB1-7C0A-0290-D4BB44B16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65962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final division of a COBOL program is the procedure division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This is where the program logic and instructions are written</a:t>
            </a:r>
          </a:p>
          <a:p>
            <a:pPr marL="569214" lvl="1">
              <a:buFontTx/>
              <a:buChar char="-"/>
            </a:pPr>
            <a:r>
              <a:rPr lang="en-US" dirty="0"/>
              <a:t>Using the form of paragraphs</a:t>
            </a:r>
            <a:endParaRPr lang="en-US" b="0" dirty="0"/>
          </a:p>
          <a:p>
            <a:pPr marL="285750" indent="-285750">
              <a:buFontTx/>
              <a:buChar char="-"/>
            </a:pPr>
            <a:r>
              <a:rPr lang="en-US" b="0" dirty="0"/>
              <a:t>The other 3 divisions are all set up for the procedure division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Where you tell the compiler instructions of what you want your program to do, and how to manipulate the data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Some common things done within the procedure division include:</a:t>
            </a:r>
          </a:p>
          <a:p>
            <a:pPr marL="569214" lvl="1">
              <a:buFontTx/>
              <a:buChar char="-"/>
            </a:pPr>
            <a:r>
              <a:rPr lang="en-US" dirty="0"/>
              <a:t>Reading from/to files</a:t>
            </a:r>
          </a:p>
          <a:p>
            <a:pPr marL="569214" lvl="1">
              <a:buFontTx/>
              <a:buChar char="-"/>
            </a:pPr>
            <a:r>
              <a:rPr lang="en-US" dirty="0"/>
              <a:t>Performing computations</a:t>
            </a:r>
          </a:p>
          <a:p>
            <a:pPr marL="569214" lvl="1">
              <a:buFontTx/>
              <a:buChar char="-"/>
            </a:pPr>
            <a:r>
              <a:rPr lang="en-US" b="0" dirty="0"/>
              <a:t>Looping through all the records of a dataset</a:t>
            </a:r>
          </a:p>
          <a:p>
            <a:pPr marL="569214" lvl="1">
              <a:buFontTx/>
              <a:buChar char="-"/>
            </a:pPr>
            <a:r>
              <a:rPr lang="en-US" dirty="0"/>
              <a:t>Moving data to its proper field</a:t>
            </a:r>
          </a:p>
          <a:p>
            <a:pPr marL="569214" lvl="1">
              <a:buFontTx/>
              <a:buChar char="-"/>
            </a:pPr>
            <a:r>
              <a:rPr lang="en-US" b="0" dirty="0"/>
              <a:t>Calling other programs or subroutines to perform other tasks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1BE145D-56F5-3249-3156-D06FCB48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76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1AAE-0152-8E2E-9C11-DD755F2A6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93EB-8DF2-4E16-00E2-7B68B33C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188668"/>
            <a:ext cx="8410962" cy="1306440"/>
          </a:xfrm>
        </p:spPr>
        <p:txBody>
          <a:bodyPr/>
          <a:lstStyle/>
          <a:p>
            <a:r>
              <a:rPr lang="en-US" dirty="0"/>
              <a:t>Procedure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11626-2C02-8ECE-16BC-1F415E31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659629"/>
          </a:xfrm>
        </p:spPr>
        <p:txBody>
          <a:bodyPr>
            <a:normAutofit/>
          </a:bodyPr>
          <a:lstStyle/>
          <a:p>
            <a:r>
              <a:rPr lang="en-US" b="0" dirty="0"/>
              <a:t>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55753A5-BA17-F00C-19FD-E99AD7F6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9D26EFB-71E5-DD89-F2E5-008300460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320" y="1805307"/>
            <a:ext cx="6192520" cy="471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488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A07E-76E3-4AEA-7841-2291A5E8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C9E7-AE17-2D6A-F0C6-88CB72F6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Results</a:t>
            </a:r>
          </a:p>
        </p:txBody>
      </p:sp>
    </p:spTree>
    <p:extLst>
      <p:ext uri="{BB962C8B-B14F-4D97-AF65-F5344CB8AC3E}">
        <p14:creationId xmlns:p14="http://schemas.microsoft.com/office/powerpoint/2010/main" val="22218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97A97-E4A5-381B-D324-FB34CFEDC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FBFA-84C2-BAD5-963A-6C48FDEE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8410962" cy="1306440"/>
          </a:xfrm>
        </p:spPr>
        <p:txBody>
          <a:bodyPr/>
          <a:lstStyle/>
          <a:p>
            <a:r>
              <a:rPr lang="en-US" dirty="0"/>
              <a:t>The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510B-62F0-2644-08C8-CDDD4B0EE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696720"/>
            <a:ext cx="7476172" cy="465962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0" dirty="0"/>
              <a:t>The entirety of this example COBOL program, along with the JCL and input data to execute can be found on our GitHub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I will do a live demonstration of this example COBOL program</a:t>
            </a:r>
          </a:p>
          <a:p>
            <a:pPr marL="285750" indent="-285750">
              <a:buFontTx/>
              <a:buChar char="-"/>
            </a:pPr>
            <a:r>
              <a:rPr lang="en-US" b="0" dirty="0"/>
              <a:t>Same demonstration as last week for JCL, except will focus on the COBOL program for this, as well as the </a:t>
            </a:r>
            <a:r>
              <a:rPr lang="en-US" b="0"/>
              <a:t>input data</a:t>
            </a:r>
            <a:endParaRPr lang="en-US" b="0" dirty="0"/>
          </a:p>
          <a:p>
            <a:pPr marL="285750" indent="-285750">
              <a:buFontTx/>
              <a:buChar char="-"/>
            </a:pPr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93CB459-A07B-D406-91FD-9E4527AD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45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8320" y="2194856"/>
            <a:ext cx="5953760" cy="1524735"/>
          </a:xfrm>
        </p:spPr>
        <p:txBody>
          <a:bodyPr/>
          <a:lstStyle/>
          <a:p>
            <a:r>
              <a:rPr lang="en-US" dirty="0"/>
              <a:t>THANK YOU for Coming!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dfad5fd-2fc6-4540-bf9f-156aa046fe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3C9BB617217C488D5DFCD8BA2C2DA1" ma:contentTypeVersion="14" ma:contentTypeDescription="Create a new document." ma:contentTypeScope="" ma:versionID="2876b916ff6fdd9098dd8e4885c0ac05">
  <xsd:schema xmlns:xsd="http://www.w3.org/2001/XMLSchema" xmlns:xs="http://www.w3.org/2001/XMLSchema" xmlns:p="http://schemas.microsoft.com/office/2006/metadata/properties" xmlns:ns3="3dfad5fd-2fc6-4540-bf9f-156aa046fef2" xmlns:ns4="88304aec-8283-4067-a08a-03f4203eb407" targetNamespace="http://schemas.microsoft.com/office/2006/metadata/properties" ma:root="true" ma:fieldsID="24b400d6719fc06e9066a92a6dd6dd69" ns3:_="" ns4:_="">
    <xsd:import namespace="3dfad5fd-2fc6-4540-bf9f-156aa046fef2"/>
    <xsd:import namespace="88304aec-8283-4067-a08a-03f4203eb4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ad5fd-2fc6-4540-bf9f-156aa046fe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04aec-8283-4067-a08a-03f4203eb40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88304aec-8283-4067-a08a-03f4203eb407"/>
    <ds:schemaRef ds:uri="http://schemas.microsoft.com/office/2006/documentManagement/types"/>
    <ds:schemaRef ds:uri="3dfad5fd-2fc6-4540-bf9f-156aa046fef2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4098CFF-8AD5-497E-B956-AD94306C30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fad5fd-2fc6-4540-bf9f-156aa046fef2"/>
    <ds:schemaRef ds:uri="88304aec-8283-4067-a08a-03f4203eb4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{BFE61E51-5217-4726-93B4-2AC349AF9B69}TF7521aafa-c748-4c40-a498-ba511be234dc5b1b6097_win32-5039330bb2f3</Template>
  <TotalTime>81</TotalTime>
  <Words>1208</Words>
  <Application>Microsoft Office PowerPoint</Application>
  <PresentationFormat>Widescreen</PresentationFormat>
  <Paragraphs>180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Tenorite</vt:lpstr>
      <vt:lpstr>Custom</vt:lpstr>
      <vt:lpstr>COBOL 101 – Writing your first Cobol program</vt:lpstr>
      <vt:lpstr>AGENDA for today</vt:lpstr>
      <vt:lpstr>What is COBOL?</vt:lpstr>
      <vt:lpstr>What is COBOL?</vt:lpstr>
      <vt:lpstr>What is COBOL?</vt:lpstr>
      <vt:lpstr>Structure of COBOL Program</vt:lpstr>
      <vt:lpstr>Structure of COBOL program</vt:lpstr>
      <vt:lpstr>Structure of COBOL program</vt:lpstr>
      <vt:lpstr>Quick Note on Terminology</vt:lpstr>
      <vt:lpstr>Identification divison</vt:lpstr>
      <vt:lpstr>Identification division</vt:lpstr>
      <vt:lpstr>Identification division</vt:lpstr>
      <vt:lpstr>Environment division</vt:lpstr>
      <vt:lpstr>Environment division</vt:lpstr>
      <vt:lpstr>Environment division</vt:lpstr>
      <vt:lpstr>Environment division</vt:lpstr>
      <vt:lpstr>Data DIvision</vt:lpstr>
      <vt:lpstr>First – Picture Clauses</vt:lpstr>
      <vt:lpstr>DATA division – file section</vt:lpstr>
      <vt:lpstr>DATA division – file section</vt:lpstr>
      <vt:lpstr>DATA division – working-storage section</vt:lpstr>
      <vt:lpstr>DATA division – working-storage section</vt:lpstr>
      <vt:lpstr>Procedure Division</vt:lpstr>
      <vt:lpstr>Procedure Division</vt:lpstr>
      <vt:lpstr>Procedure Division</vt:lpstr>
      <vt:lpstr>The Results</vt:lpstr>
      <vt:lpstr>The results</vt:lpstr>
      <vt:lpstr>THANK YOU for Coming!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Johnson</dc:creator>
  <cp:lastModifiedBy>Douglas Johnson</cp:lastModifiedBy>
  <cp:revision>1</cp:revision>
  <dcterms:created xsi:type="dcterms:W3CDTF">2025-11-04T19:10:23Z</dcterms:created>
  <dcterms:modified xsi:type="dcterms:W3CDTF">2025-11-04T20:31:34Z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0x0101006F3C9BB617217C488D5DFCD8BA2C2DA1</vt:lpwstr>
  </property>
  <property fmtid="{D5CDD505-2E9C-101B-9397-08002B2CF9AE}" pid="3" name="MediaServiceImageTags">
    <vt:lpwstr/>
  </property>
</Properties>
</file>